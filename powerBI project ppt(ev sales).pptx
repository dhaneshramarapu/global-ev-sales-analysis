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318" r:id="rId2"/>
    <p:sldId id="257" r:id="rId3"/>
    <p:sldId id="258" r:id="rId4"/>
    <p:sldId id="313" r:id="rId5"/>
    <p:sldId id="259" r:id="rId6"/>
    <p:sldId id="261" r:id="rId7"/>
    <p:sldId id="322" r:id="rId8"/>
    <p:sldId id="324" r:id="rId9"/>
    <p:sldId id="320" r:id="rId10"/>
    <p:sldId id="319" r:id="rId11"/>
    <p:sldId id="321" r:id="rId12"/>
    <p:sldId id="323" r:id="rId13"/>
    <p:sldId id="325" r:id="rId14"/>
    <p:sldId id="316" r:id="rId15"/>
    <p:sldId id="279" r:id="rId16"/>
    <p:sldId id="326" r:id="rId17"/>
    <p:sldId id="317" r:id="rId18"/>
  </p:sldIdLst>
  <p:sldSz cx="12192000" cy="6858000"/>
  <p:notesSz cx="6858000" cy="9144000"/>
  <p:embeddedFontLst>
    <p:embeddedFont>
      <p:font typeface="Lato Black" panose="020F0502020204030203" pitchFamily="34" charset="0"/>
      <p:bold r:id="rId20"/>
      <p:boldItalic r:id="rId21"/>
    </p:embeddedFont>
    <p:embeddedFont>
      <p:font typeface="Libre Baskerville" panose="02000000000000000000" pitchFamily="2" charset="0"/>
      <p:regular r:id="rId22"/>
      <p:bold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5959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dhanesh-ramarapu-1328b4273%20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haneshramarapu.github.io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-227415" y="-278617"/>
            <a:ext cx="12333276" cy="716611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192695" y="3716937"/>
            <a:ext cx="1014785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US" sz="4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Global EV Sales Analysis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139" y="5051352"/>
            <a:ext cx="4710034" cy="180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Ramarapu Dhanesh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Batch.No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 470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Innomatics</a:t>
            </a:r>
            <a:r>
              <a:rPr lang="en-GB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Research 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963668" y="1087533"/>
            <a:ext cx="9340645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name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Dhanesh Ramarapu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a recent graduate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Data Science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Guru Nanak Institute of Technology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aspire to build a career as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I can perform data exploration and analysis, create insightful reports and dashboards, and support data-driven decision-making.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LinkedIn : </a:t>
            </a:r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 </a:t>
            </a:r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  <a:hlinkClick r:id="rId3"/>
              </a:rPr>
              <a:t>https://www.linkedin.com/in/dhanesh-ramarapu-1328b4273 \</a:t>
            </a:r>
            <a:endParaRPr lang="en-IN" sz="2000" b="1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342900" lvl="0" indent="-34290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lang="en-IN" sz="2000" b="1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342900" lvl="0" indent="-34290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IN" sz="20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Github</a:t>
            </a:r>
            <a:r>
              <a:rPr lang="en-IN" sz="2000" b="1" u="sng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</a:rPr>
              <a:t>:  </a:t>
            </a:r>
            <a:r>
              <a:rPr lang="en-IN" sz="2000" b="1" u="sng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Calibri" panose="020F0502020204030204"/>
                <a:hlinkClick r:id="rId4"/>
              </a:rPr>
              <a:t>https://dhaneshramarapu.github.io</a:t>
            </a:r>
            <a:endParaRPr lang="en-IN" sz="2000" b="1" u="sng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342900" lvl="0" indent="-34290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lang="en-IN" sz="2000" b="1" u="sng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495217" y="347566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 panose="020F0502020204030203"/>
              <a:buNone/>
            </a:pPr>
            <a:r>
              <a:rPr lang="en-IN" sz="3200" b="0" i="0" u="sng" strike="noStrike" cap="none" dirty="0">
                <a:solidFill>
                  <a:srgbClr val="C00000"/>
                </a:solidFill>
                <a:latin typeface="Lato Black" panose="020F0502020204030203"/>
                <a:ea typeface="Lato Black" panose="020F0502020204030203"/>
                <a:cs typeface="Lato Black" panose="020F0502020204030203"/>
                <a:sym typeface="Lato Black" panose="020F0502020204030203"/>
              </a:rPr>
              <a:t>About</a:t>
            </a:r>
            <a:r>
              <a:rPr lang="en-IN" sz="3200" b="0" i="0" u="sng" strike="noStrike" cap="none" dirty="0">
                <a:solidFill>
                  <a:srgbClr val="FF0000"/>
                </a:solidFill>
                <a:latin typeface="Lato Black" panose="020F0502020204030203"/>
                <a:ea typeface="Lato Black" panose="020F0502020204030203"/>
                <a:cs typeface="Lato Black" panose="020F0502020204030203"/>
                <a:sym typeface="Lato Black" panose="020F0502020204030203"/>
              </a:rPr>
              <a:t> </a:t>
            </a:r>
            <a:r>
              <a:rPr lang="en-IN" sz="3200" b="0" i="0" u="sng" strike="noStrike" cap="none" dirty="0">
                <a:solidFill>
                  <a:srgbClr val="C00000"/>
                </a:solidFill>
                <a:latin typeface="Lato Black" panose="020F0502020204030203"/>
                <a:ea typeface="Lato Black" panose="020F0502020204030203"/>
                <a:cs typeface="Lato Black" panose="020F0502020204030203"/>
                <a:sym typeface="Lato Black" panose="020F0502020204030203"/>
              </a:rPr>
              <a:t>me</a:t>
            </a:r>
            <a:endParaRPr sz="1800" b="0" i="0" u="sng" strike="noStrike" cap="none" dirty="0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r>
              <a:rPr lang="en-IN" b="1" dirty="0">
                <a:solidFill>
                  <a:srgbClr val="FF0000"/>
                </a:solidFill>
              </a:rPr>
              <a:t>  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2" name="Google Shape;111;p4">
            <a:extLst>
              <a:ext uri="{FF2B5EF4-FFF2-40B4-BE49-F238E27FC236}">
                <a16:creationId xmlns:a16="http://schemas.microsoft.com/office/drawing/2014/main" id="{FA90D2E9-0F71-025A-0E9F-A191BD940871}"/>
              </a:ext>
            </a:extLst>
          </p:cNvPr>
          <p:cNvSpPr txBox="1">
            <a:spLocks/>
          </p:cNvSpPr>
          <p:nvPr/>
        </p:nvSpPr>
        <p:spPr>
          <a:xfrm>
            <a:off x="1467928" y="681036"/>
            <a:ext cx="9662188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5400" indent="0">
              <a:buSzPts val="240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31800">
              <a:buSzPts val="2400"/>
              <a:buFont typeface="Wingdings" panose="05000000000000000000" pitchFamily="2" charset="2"/>
              <a:buChar char="Ø"/>
            </a:pPr>
            <a:r>
              <a:rPr lang="en-IN" sz="2400" dirty="0"/>
              <a:t>Business Problem</a:t>
            </a:r>
          </a:p>
          <a:p>
            <a:pPr indent="-431800"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 view</a:t>
            </a:r>
          </a:p>
          <a:p>
            <a:pPr indent="-431800"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  <a:p>
            <a:pPr indent="-431800"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 Board Visualization</a:t>
            </a:r>
          </a:p>
          <a:p>
            <a:pPr indent="-431800"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</a:t>
            </a:r>
          </a:p>
          <a:p>
            <a:pPr indent="-431800"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pPr indent="-431800"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</a:t>
            </a:r>
          </a:p>
          <a:p>
            <a:pPr indent="-431800"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indent="-431800"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</a:t>
            </a:r>
          </a:p>
          <a:p>
            <a:pPr marL="0" indent="0">
              <a:buSzPts val="2800"/>
              <a:buFont typeface="Arial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9FAC-62E5-22F5-12C8-BE3B5ECF3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884" y="27663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E5E6A-B1A5-BE1F-AEA5-7651FF8F9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global adoption of electric vehicles (EVs) is increasing rapidly, influencing other countries and cities to develop and adapt to this transformation. However, there is still a lack of clear, data-driven insights into key aspects of the EV market, such as: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countries lead in EV sales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EV adoption has grown over time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specific period when the EV boom occurred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these factors is essential for gaining a comprehensive and data-driven perspective on the evolving EV market.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01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75688" y="1690688"/>
            <a:ext cx="9879991" cy="3139962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 sales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sz="24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56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  <a:r>
              <a:rPr sz="24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r>
              <a:rPr sz="24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meaningful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63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growth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630"/>
              </a:spcBef>
              <a:buFont typeface="Wingdings"/>
              <a:buChar char=""/>
              <a:tabLst>
                <a:tab pos="3556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countries and the EV types </a:t>
            </a:r>
          </a:p>
          <a:p>
            <a:pPr marL="355600" indent="-342900">
              <a:lnSpc>
                <a:spcPct val="100000"/>
              </a:lnSpc>
              <a:spcBef>
                <a:spcPts val="630"/>
              </a:spcBef>
              <a:buFont typeface="Wingdings"/>
              <a:buChar char=""/>
              <a:tabLst>
                <a:tab pos="3556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performance using the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Wingdings"/>
              <a:buChar char=""/>
              <a:tabLst>
                <a:tab pos="3556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the countries to use the EVs to help the environment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569897"/>
            <a:ext cx="10515600" cy="916019"/>
          </a:xfrm>
          <a:prstGeom prst="rect">
            <a:avLst/>
          </a:prstGeom>
        </p:spPr>
        <p:txBody>
          <a:bodyPr vert="horz" wrap="square" lIns="0" tIns="2239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pc="9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22282"/>
            <a:ext cx="10515600" cy="811248"/>
          </a:xfrm>
          <a:prstGeom prst="rect">
            <a:avLst/>
          </a:prstGeom>
        </p:spPr>
        <p:txBody>
          <a:bodyPr vert="horz" wrap="square" lIns="0" tIns="120142" rIns="0" bIns="0" rtlCol="0">
            <a:spAutoFit/>
          </a:bodyPr>
          <a:lstStyle/>
          <a:p>
            <a:pPr marL="161925" algn="ctr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pc="3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795" y="1835294"/>
            <a:ext cx="9603525" cy="3959417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Imported the dataset into Power BI for analysis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records to maintain data accuracy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 and resolved null entries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the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Charges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 to a numeric format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DAX measures for Total Sales, Growth Rate, and Market Share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the dataset is clean, consistent, and ready for analysis </a:t>
            </a:r>
          </a:p>
          <a:p>
            <a:pPr marL="355600" indent="-342900">
              <a:lnSpc>
                <a:spcPct val="100000"/>
              </a:lnSpc>
              <a:spcBef>
                <a:spcPts val="795"/>
              </a:spcBef>
              <a:buSzPct val="90000"/>
              <a:buFont typeface="Wingdings"/>
              <a:buChar char=""/>
              <a:tabLst>
                <a:tab pos="355600" algn="l"/>
              </a:tabLst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AF343-0205-DB48-3C4B-4EE52918A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70D74-C520-6EE9-8C15-06C699D07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794DBC-58E8-08DE-8F0E-2CB1BEB07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47" y="94268"/>
            <a:ext cx="11586105" cy="600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510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BA3DB-E7BD-FC40-8CC8-AF6AAFD28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2EC54CE-9597-E3DB-15BE-2AA39ECB74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692" y="146751"/>
            <a:ext cx="10045180" cy="7053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BF6BFAD-1B0A-AA3D-BB6F-9374A4FB6F94}"/>
              </a:ext>
            </a:extLst>
          </p:cNvPr>
          <p:cNvSpPr txBox="1"/>
          <p:nvPr/>
        </p:nvSpPr>
        <p:spPr>
          <a:xfrm>
            <a:off x="706057" y="1056643"/>
            <a:ext cx="10211816" cy="3699731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spcBef>
                <a:spcPts val="775"/>
              </a:spcBef>
            </a:pP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 :</a:t>
            </a: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Visuals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Used:</a:t>
            </a:r>
            <a:endParaRPr lang="en-US" sz="24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lang="en-IN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 , KPI Card</a:t>
            </a: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endParaRPr lang="en-US" sz="24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spcBef>
                <a:spcPts val="775"/>
              </a:spcBef>
              <a:buFont typeface="+mj-lt"/>
              <a:buAutoNum type="arabicPeriod"/>
            </a:pP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"Hockey Stick" growth curve since 2020.</a:t>
            </a:r>
            <a:endParaRPr lang="en-US" sz="24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775"/>
              </a:spcBef>
              <a:buFont typeface="+mj-lt"/>
              <a:buAutoNum type="arabicPeriod"/>
            </a:pP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Findings :</a:t>
            </a:r>
          </a:p>
          <a:p>
            <a:pPr marL="469900" indent="-457200">
              <a:spcBef>
                <a:spcPts val="775"/>
              </a:spcBef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sales exceeded 17 million in 2024, which is a 25% increase from the previous year.</a:t>
            </a:r>
            <a:endParaRPr lang="en-US" sz="2400" b="1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520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66D019-6DC1-CA38-4E4D-26E6AA5D6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82" y="113723"/>
            <a:ext cx="11557685" cy="617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0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460" y="771784"/>
            <a:ext cx="10045180" cy="7053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74127" y="1565929"/>
            <a:ext cx="9643745" cy="4479431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spcBef>
                <a:spcPts val="775"/>
              </a:spcBef>
            </a:pP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Regional Analysis :</a:t>
            </a:r>
          </a:p>
          <a:p>
            <a:pPr marL="12700">
              <a:spcBef>
                <a:spcPts val="775"/>
              </a:spcBef>
            </a:pPr>
            <a:endParaRPr lang="en-US" sz="2000" b="1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Visuals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Used: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line chart , Clustered Bar Chart</a:t>
            </a:r>
          </a:p>
          <a:p>
            <a:pPr marL="469900" indent="-457200">
              <a:lnSpc>
                <a:spcPct val="100000"/>
              </a:lnSpc>
              <a:spcBef>
                <a:spcPts val="775"/>
              </a:spcBef>
              <a:buFont typeface="+mj-lt"/>
              <a:buAutoNum type="arabicPeriod"/>
            </a:pP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To Show geographic dominance</a:t>
            </a:r>
          </a:p>
          <a:p>
            <a:pPr marL="469900" indent="-457200">
              <a:lnSpc>
                <a:spcPct val="100000"/>
              </a:lnSpc>
              <a:spcBef>
                <a:spcPts val="775"/>
              </a:spcBef>
              <a:buFont typeface="+mj-lt"/>
              <a:buAutoNum type="arabicPeriod"/>
            </a:pP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Findings :</a:t>
            </a:r>
          </a:p>
          <a:p>
            <a:pPr marL="355600" lvl="1" indent="-342900">
              <a:spcBef>
                <a:spcPts val="775"/>
              </a:spcBef>
              <a:buFont typeface="Wingdings" panose="05000000000000000000" pitchFamily="2" charset="2"/>
              <a:buChar char="ü"/>
            </a:pP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China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Leads the world with over 11 million sales in 2024, Representing nearly 50% of its domestic car market </a:t>
            </a:r>
          </a:p>
          <a:p>
            <a:pPr marL="355600" lvl="1" indent="-342900">
              <a:spcBef>
                <a:spcPts val="775"/>
              </a:spcBef>
              <a:buFont typeface="Wingdings" panose="05000000000000000000" pitchFamily="2" charset="2"/>
              <a:buChar char="ü"/>
            </a:pP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Europe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Stagnating growth (20 % ) share dure to phasing out of subsidy schemes in major markets </a:t>
            </a:r>
          </a:p>
          <a:p>
            <a:pPr marL="355600" lvl="1" indent="-342900">
              <a:spcBef>
                <a:spcPts val="775"/>
              </a:spcBef>
              <a:buFont typeface="Wingdings" panose="05000000000000000000" pitchFamily="2" charset="2"/>
              <a:buChar char="ü"/>
            </a:pP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United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Moderate growth (~ 10% ) reaching in a 1 in 10 sales share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6A4B1F-CD3A-5FD9-6842-874603B5A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96" y="254525"/>
            <a:ext cx="11538408" cy="591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34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748A1-7A57-D839-C343-4F605B65D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D085C73-BE3E-D08A-BD5A-A18E73BBD1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692" y="146751"/>
            <a:ext cx="10045180" cy="7053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65DB48A-470F-76A1-6876-69F21FC511B1}"/>
              </a:ext>
            </a:extLst>
          </p:cNvPr>
          <p:cNvSpPr txBox="1"/>
          <p:nvPr/>
        </p:nvSpPr>
        <p:spPr>
          <a:xfrm>
            <a:off x="544367" y="634501"/>
            <a:ext cx="10524333" cy="6285054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spcBef>
                <a:spcPts val="775"/>
              </a:spcBef>
            </a:pP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Analysis :</a:t>
            </a:r>
          </a:p>
          <a:p>
            <a:pPr marL="12700">
              <a:spcBef>
                <a:spcPts val="775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Visuals</a:t>
            </a:r>
            <a:r>
              <a:rPr lang="en-US" sz="24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700">
              <a:spcBef>
                <a:spcPts val="775"/>
              </a:spcBef>
            </a:pP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Donut chart , Stacked Column  Chart</a:t>
            </a:r>
          </a:p>
          <a:p>
            <a:pPr marL="469900" indent="-457200">
              <a:spcBef>
                <a:spcPts val="775"/>
              </a:spcBef>
              <a:buFont typeface="+mj-lt"/>
              <a:buAutoNum type="arabicPeriod"/>
            </a:pP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EV adoption across different transport modes, understand distribution patterns, regional penetration, and track global growth trends over time.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Cars dominate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 adoption with ~87% share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BEVs lead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all transport modes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Buses and cars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higher EV penetration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Post-2020 growth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rapid EV expansion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Trucks and vans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slower adoption (future potential)</a:t>
            </a: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endParaRPr lang="en-US" sz="24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spcBef>
                <a:spcPts val="775"/>
              </a:spcBef>
              <a:buFont typeface="+mj-lt"/>
              <a:buAutoNum type="arabicPeriod"/>
            </a:pPr>
            <a:endParaRPr lang="en-US" sz="2400" b="1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00000"/>
              </a:lnSpc>
              <a:spcBef>
                <a:spcPts val="775"/>
              </a:spcBef>
              <a:buFont typeface="+mj-lt"/>
              <a:buAutoNum type="arabicPeriod"/>
            </a:pPr>
            <a:endParaRPr lang="en-US" sz="2400" b="1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06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993A4-4757-CBE0-B567-22E9B9D9E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2587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5BD4651-679B-F370-87B0-0FD37B8A1E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46756" y="1121814"/>
            <a:ext cx="1141066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Record Milestone: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Global EV sales surpassed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20% market share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first time in 2024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Emerging Markets Growth: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EV sales doubled in Brazil and grew by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~60%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Latin America and Southeast Asia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Policy Impact: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Changes in regulations or subsidy cuts (e.g., Germany) lead 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immediate drops in EV sales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Policy Support: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Enables governments to design targeted incentives to boost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slow-growing markets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Planning: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Supports strategic expansion of charging networks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high-growth regions like Southeast Asia </a:t>
            </a:r>
          </a:p>
        </p:txBody>
      </p:sp>
    </p:spTree>
    <p:extLst>
      <p:ext uri="{BB962C8B-B14F-4D97-AF65-F5344CB8AC3E}">
        <p14:creationId xmlns:p14="http://schemas.microsoft.com/office/powerpoint/2010/main" val="3016987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E44CD-C1DE-EAA2-9F61-6351B1CCC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53" y="267129"/>
            <a:ext cx="10515600" cy="89971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5747F94-8C95-6641-EC5F-AAE8A32DE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1" y="1536174"/>
            <a:ext cx="1051559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 Challenges: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Combined datasets from multiple global sources (e.g., IEA, regional databases) with differing formats, reporting periods, and vehicle classifications.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Sparse Data: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Addressed missing historical data in emerging markets (Latin America, Southeast Asia) without distorting overall growth trends.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DAX Calculations: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 complex measures for YoY growth and rolling averages to accurately capture seasonal fluctuations.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041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9F704-B137-AA7A-F19F-EF11F1F59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05" y="-80091"/>
            <a:ext cx="10515600" cy="1135894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1AA37C3-59C3-04E4-C49E-CEC230E2ED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9047" y="1920224"/>
            <a:ext cx="1129242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Mainstream Adoption: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EVs have reached a global tipping point, with sales consistently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exceeding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20%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key markets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Regional Shift: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China leads in volume, while emerging markets show rapid growth despite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slower momentum in parts of Europe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BEV Leadership: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BEVs dominate the market, with PHEVs acting as a transitional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 in certain regions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Drivers: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Infrastructure development and stable policy support are the primary factors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driving sustained EV growth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662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3CBEC-86AA-9C20-D7B4-533D6901B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612636F-D578-8209-5165-8500679613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82805" y="1905506"/>
            <a:ext cx="1221866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on Emerging Markets: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Invest in charging infrastructure in high-growth regions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Brazil, Thailand, and Vietnam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Affordability: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Automakers should introduce more cost-effective BEVs to sustain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demand as subsidies decline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Retention: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 loyalty programs to retain early BEV adopters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reduce the shift back to ICE or hybrid vehicles </a:t>
            </a:r>
          </a:p>
        </p:txBody>
      </p:sp>
    </p:spTree>
    <p:extLst>
      <p:ext uri="{BB962C8B-B14F-4D97-AF65-F5344CB8AC3E}">
        <p14:creationId xmlns:p14="http://schemas.microsoft.com/office/powerpoint/2010/main" val="3315666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28740" y="2011841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860</Words>
  <Application>Microsoft Office PowerPoint</Application>
  <PresentationFormat>Widescreen</PresentationFormat>
  <Paragraphs>125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Lato Black</vt:lpstr>
      <vt:lpstr>Libre Baskerville</vt:lpstr>
      <vt:lpstr>Wingdings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Agenda   </vt:lpstr>
      <vt:lpstr>Problem Statement</vt:lpstr>
      <vt:lpstr>Project Overview</vt:lpstr>
      <vt:lpstr>Data Preparation</vt:lpstr>
      <vt:lpstr>PowerPoint Presentation</vt:lpstr>
      <vt:lpstr>Dashboard Visualizations</vt:lpstr>
      <vt:lpstr>PowerPoint Presentation</vt:lpstr>
      <vt:lpstr>Dashboard Visualizations</vt:lpstr>
      <vt:lpstr>PowerPoint Presentation</vt:lpstr>
      <vt:lpstr>Dashboard Visualizations</vt:lpstr>
      <vt:lpstr>Key Insights</vt:lpstr>
      <vt:lpstr>Challenges</vt:lpstr>
      <vt:lpstr>conclusion</vt:lpstr>
      <vt:lpstr>Recommendations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Ramarapu Dhanesh</cp:lastModifiedBy>
  <cp:revision>4</cp:revision>
  <dcterms:created xsi:type="dcterms:W3CDTF">2021-02-16T05:19:01Z</dcterms:created>
  <dcterms:modified xsi:type="dcterms:W3CDTF">2026-04-20T02:19:11Z</dcterms:modified>
</cp:coreProperties>
</file>